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01" r:id="rId1"/>
  </p:sldMasterIdLst>
  <p:sldIdLst>
    <p:sldId id="256" r:id="rId2"/>
    <p:sldId id="257" r:id="rId3"/>
    <p:sldId id="258" r:id="rId4"/>
    <p:sldId id="261" r:id="rId5"/>
    <p:sldId id="262" r:id="rId6"/>
    <p:sldId id="259" r:id="rId7"/>
    <p:sldId id="260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K Kaushik" initials="SK" lastIdx="1" clrIdx="0">
    <p:extLst>
      <p:ext uri="{19B8F6BF-5375-455C-9EA6-DF929625EA0E}">
        <p15:presenceInfo xmlns:p15="http://schemas.microsoft.com/office/powerpoint/2012/main" userId="SK Kaushik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73C1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E1367-8A41-4451-AA63-D3949ADA168B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ABB2A-E937-41EB-A4E7-5B026B6C86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8120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E1367-8A41-4451-AA63-D3949ADA168B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ABB2A-E937-41EB-A4E7-5B026B6C86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1697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E1367-8A41-4451-AA63-D3949ADA168B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ABB2A-E937-41EB-A4E7-5B026B6C86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7283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E1367-8A41-4451-AA63-D3949ADA168B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ABB2A-E937-41EB-A4E7-5B026B6C86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4782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E1367-8A41-4451-AA63-D3949ADA168B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ABB2A-E937-41EB-A4E7-5B026B6C86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879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E1367-8A41-4451-AA63-D3949ADA168B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ABB2A-E937-41EB-A4E7-5B026B6C86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535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E1367-8A41-4451-AA63-D3949ADA168B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ABB2A-E937-41EB-A4E7-5B026B6C86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2371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E1367-8A41-4451-AA63-D3949ADA168B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ABB2A-E937-41EB-A4E7-5B026B6C86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5817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E1367-8A41-4451-AA63-D3949ADA168B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ABB2A-E937-41EB-A4E7-5B026B6C86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0334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E1367-8A41-4451-AA63-D3949ADA168B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ABB2A-E937-41EB-A4E7-5B026B6C86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539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E1367-8A41-4451-AA63-D3949ADA168B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ABB2A-E937-41EB-A4E7-5B026B6C86E7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889063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E1367-8A41-4451-AA63-D3949ADA168B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ABB2A-E937-41EB-A4E7-5B026B6C86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98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E1367-8A41-4451-AA63-D3949ADA168B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ABB2A-E937-41EB-A4E7-5B026B6C86E7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703503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E1367-8A41-4451-AA63-D3949ADA168B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ABB2A-E937-41EB-A4E7-5B026B6C86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2614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E1367-8A41-4451-AA63-D3949ADA168B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ABB2A-E937-41EB-A4E7-5B026B6C86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7862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E1367-8A41-4451-AA63-D3949ADA168B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ABB2A-E937-41EB-A4E7-5B026B6C86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522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FE1367-8A41-4451-AA63-D3949ADA168B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33ABB2A-E937-41EB-A4E7-5B026B6C86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5397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2" r:id="rId1"/>
    <p:sldLayoutId id="2147484003" r:id="rId2"/>
    <p:sldLayoutId id="2147484004" r:id="rId3"/>
    <p:sldLayoutId id="2147484005" r:id="rId4"/>
    <p:sldLayoutId id="2147484006" r:id="rId5"/>
    <p:sldLayoutId id="2147484007" r:id="rId6"/>
    <p:sldLayoutId id="2147484008" r:id="rId7"/>
    <p:sldLayoutId id="2147484009" r:id="rId8"/>
    <p:sldLayoutId id="2147484010" r:id="rId9"/>
    <p:sldLayoutId id="2147484011" r:id="rId10"/>
    <p:sldLayoutId id="2147484012" r:id="rId11"/>
    <p:sldLayoutId id="2147484013" r:id="rId12"/>
    <p:sldLayoutId id="2147484014" r:id="rId13"/>
    <p:sldLayoutId id="2147484015" r:id="rId14"/>
    <p:sldLayoutId id="2147484016" r:id="rId15"/>
    <p:sldLayoutId id="2147484017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99063" y="1122362"/>
            <a:ext cx="7602584" cy="361945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sz="4000" dirty="0" smtClean="0">
                <a:solidFill>
                  <a:srgbClr val="273C1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Comprehensive Insights into</a:t>
            </a:r>
            <a:br>
              <a:rPr lang="en-US" sz="4000" dirty="0" smtClean="0">
                <a:solidFill>
                  <a:srgbClr val="273C1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dirty="0" err="1" smtClean="0">
                <a:solidFill>
                  <a:srgbClr val="273C1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Katishoola</a:t>
            </a:r>
            <a:r>
              <a:rPr lang="en-US" sz="4000" dirty="0" smtClean="0">
                <a:solidFill>
                  <a:srgbClr val="273C1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Its</a:t>
            </a:r>
            <a:br>
              <a:rPr lang="en-US" sz="4000" dirty="0" smtClean="0">
                <a:solidFill>
                  <a:srgbClr val="273C1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dirty="0" smtClean="0">
                <a:solidFill>
                  <a:srgbClr val="273C1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Therapeutic Approaches</a:t>
            </a:r>
            <a:br>
              <a:rPr lang="en-US" sz="4000" dirty="0" smtClean="0">
                <a:solidFill>
                  <a:srgbClr val="273C1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 In-Depth Exploration of </a:t>
            </a:r>
            <a:r>
              <a:rPr 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Katibasti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Patrapind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Sweda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and Their Clinical Implications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1104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75657" y="613954"/>
            <a:ext cx="7968343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 smtClean="0"/>
          </a:p>
          <a:p>
            <a:r>
              <a:rPr lang="en-US" sz="3600" dirty="0" smtClean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Katishoola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Katibasti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Exploring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Patrapind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Sweda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Comparative Analysis of Treatments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Patient Demographics and Distribution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Clinical Examination Process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Mechanisms of Pain in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Katishoola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Therapeutic Mechanisms of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Katibasti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Patrapind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Sweda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Assessment Criteria and Statistical Analysis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Study Results and Findings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Future Research Directions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2991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8869" y="678226"/>
            <a:ext cx="9144000" cy="1098323"/>
          </a:xfrm>
        </p:spPr>
        <p:txBody>
          <a:bodyPr>
            <a:normAutofit fontScale="90000"/>
          </a:bodyPr>
          <a:lstStyle/>
          <a:p>
            <a:r>
              <a:rPr lang="en-US" sz="4000" dirty="0" smtClean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r>
              <a:rPr lang="en-US" dirty="0" smtClean="0"/>
              <a:t> </a:t>
            </a:r>
            <a:r>
              <a:rPr lang="en-US" sz="4000" dirty="0" smtClean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4000" dirty="0" err="1" smtClean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Katishoola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0502" y="1254034"/>
            <a:ext cx="7432767" cy="4911635"/>
          </a:xfrm>
        </p:spPr>
        <p:txBody>
          <a:bodyPr>
            <a:normAutofit/>
          </a:bodyPr>
          <a:lstStyle/>
          <a:p>
            <a:endParaRPr lang="en-US" dirty="0" smtClean="0"/>
          </a:p>
          <a:p>
            <a:pPr algn="just"/>
            <a:endParaRPr lang="en-US" sz="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4588165"/>
              </p:ext>
            </p:extLst>
          </p:nvPr>
        </p:nvGraphicFramePr>
        <p:xfrm>
          <a:off x="2432594" y="1776549"/>
          <a:ext cx="7348582" cy="33832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7348582">
                  <a:extLst>
                    <a:ext uri="{9D8B030D-6E8A-4147-A177-3AD203B41FA5}">
                      <a16:colId xmlns:a16="http://schemas.microsoft.com/office/drawing/2014/main" val="2941457411"/>
                    </a:ext>
                  </a:extLst>
                </a:gridCol>
              </a:tblGrid>
              <a:tr h="3357154">
                <a:tc>
                  <a:txBody>
                    <a:bodyPr/>
                    <a:lstStyle/>
                    <a:p>
                      <a:pPr algn="just"/>
                      <a:r>
                        <a:rPr lang="en-US" sz="1800" u="sng" dirty="0" smtClean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Introduction to </a:t>
                      </a:r>
                      <a:r>
                        <a:rPr lang="en-US" sz="1800" u="sng" dirty="0" err="1" smtClean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Katishoola</a:t>
                      </a:r>
                      <a:endParaRPr lang="en-US" sz="1800" u="sng" dirty="0" smtClean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/>
                      <a:endParaRPr lang="en-US" sz="1800" u="sng" dirty="0" smtClean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/>
                      <a:r>
                        <a:rPr lang="en-US" sz="1800" dirty="0" smtClean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Overview of </a:t>
                      </a:r>
                      <a:r>
                        <a:rPr lang="en-US" sz="1800" dirty="0" err="1" smtClean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Katishoola</a:t>
                      </a:r>
                      <a:r>
                        <a:rPr lang="en-US" sz="1800" dirty="0" smtClean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A condition likely related to back pain or discomfort, affecting a significant number of patients. Involved a study of 300 patients diagnosed with </a:t>
                      </a:r>
                      <a:r>
                        <a:rPr lang="en-US" sz="1800" dirty="0" err="1" smtClean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Katishoola</a:t>
                      </a:r>
                      <a:r>
                        <a:rPr lang="en-US" sz="1800" dirty="0" smtClean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focusing on various health and lifestyle factors.</a:t>
                      </a:r>
                    </a:p>
                    <a:p>
                      <a:pPr algn="just"/>
                      <a:endParaRPr lang="en-US" sz="1800" dirty="0" smtClean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/>
                      <a:r>
                        <a:rPr lang="en-US" sz="1800" dirty="0" smtClean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Factors Analyzed: Patient demographics including age, sex, religion, marital status, occupation, and education. Socioeconomic status and its correlation with the condition. Health indicators such as </a:t>
                      </a:r>
                      <a:r>
                        <a:rPr lang="en-US" sz="1800" dirty="0" err="1" smtClean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Kshudha</a:t>
                      </a:r>
                      <a:r>
                        <a:rPr lang="en-US" sz="1800" dirty="0" smtClean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(hunger) and Agni (digestive fire). Geographical distribution and physical attributes like Desha (region) and </a:t>
                      </a:r>
                      <a:r>
                        <a:rPr lang="en-US" sz="1800" dirty="0" err="1" smtClean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Kostha</a:t>
                      </a:r>
                      <a:r>
                        <a:rPr lang="en-US" sz="1800" dirty="0" smtClean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(body type).</a:t>
                      </a:r>
                      <a:endParaRPr lang="en-US" sz="1800" dirty="0" smtClean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8828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0634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87736" y="0"/>
            <a:ext cx="468589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>
                <a:ln w="3175" cmpd="sng"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Understanding </a:t>
            </a:r>
            <a:r>
              <a:rPr lang="en-US" sz="3600" dirty="0" err="1">
                <a:ln w="3175" cmpd="sng"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Katibasti</a:t>
            </a:r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2564968"/>
              </p:ext>
            </p:extLst>
          </p:nvPr>
        </p:nvGraphicFramePr>
        <p:xfrm>
          <a:off x="979714" y="915609"/>
          <a:ext cx="10280469" cy="4962677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426823">
                  <a:extLst>
                    <a:ext uri="{9D8B030D-6E8A-4147-A177-3AD203B41FA5}">
                      <a16:colId xmlns:a16="http://schemas.microsoft.com/office/drawing/2014/main" val="940050097"/>
                    </a:ext>
                  </a:extLst>
                </a:gridCol>
                <a:gridCol w="3426823">
                  <a:extLst>
                    <a:ext uri="{9D8B030D-6E8A-4147-A177-3AD203B41FA5}">
                      <a16:colId xmlns:a16="http://schemas.microsoft.com/office/drawing/2014/main" val="3002956115"/>
                    </a:ext>
                  </a:extLst>
                </a:gridCol>
                <a:gridCol w="3426823">
                  <a:extLst>
                    <a:ext uri="{9D8B030D-6E8A-4147-A177-3AD203B41FA5}">
                      <a16:colId xmlns:a16="http://schemas.microsoft.com/office/drawing/2014/main" val="3358371423"/>
                    </a:ext>
                  </a:extLst>
                </a:gridCol>
              </a:tblGrid>
              <a:tr h="4962677"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01 </a:t>
                      </a:r>
                      <a:r>
                        <a:rPr lang="en-US" sz="2400" u="sng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Definition and Purpose</a:t>
                      </a:r>
                    </a:p>
                    <a:p>
                      <a:endParaRPr lang="en-US" sz="2400" u="sng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/>
                      <a:r>
                        <a:rPr lang="en-US" sz="18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Katibasti</a:t>
                      </a:r>
                      <a:r>
                        <a:rPr lang="en-US" sz="1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is an </a:t>
                      </a:r>
                      <a:r>
                        <a:rPr lang="en-US" sz="18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Ayurvedic</a:t>
                      </a:r>
                      <a:r>
                        <a:rPr lang="en-US" sz="1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treatment specifically designed to manage low back pain, known as </a:t>
                      </a:r>
                      <a:r>
                        <a:rPr lang="en-US" sz="18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Katishoola</a:t>
                      </a:r>
                      <a:r>
                        <a:rPr lang="en-US" sz="1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pPr algn="l"/>
                      <a:endParaRPr lang="en-US" sz="18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/>
                      <a:r>
                        <a:rPr lang="en-US" sz="1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 involves the application of warm medicated oil to the lower back, creating a localized therapeutic effect.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02 </a:t>
                      </a:r>
                      <a:r>
                        <a:rPr lang="en-US" sz="2400" u="sng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Clinical Study Insights</a:t>
                      </a:r>
                    </a:p>
                    <a:p>
                      <a:endParaRPr lang="en-US" sz="2400" u="sng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/>
                      <a:r>
                        <a:rPr lang="en-US" sz="1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comparative clinical study evaluated the efficacy of </a:t>
                      </a:r>
                      <a:r>
                        <a:rPr lang="en-US" sz="18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Katibasti</a:t>
                      </a:r>
                      <a:r>
                        <a:rPr lang="en-US" sz="1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against another treatment, </a:t>
                      </a:r>
                      <a:r>
                        <a:rPr lang="en-US" sz="18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Patrapind</a:t>
                      </a:r>
                      <a:r>
                        <a:rPr lang="en-US" sz="1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Sweda</a:t>
                      </a:r>
                      <a:r>
                        <a:rPr lang="en-US" sz="1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involving 300 patients.</a:t>
                      </a:r>
                    </a:p>
                    <a:p>
                      <a:pPr algn="l"/>
                      <a:endParaRPr lang="en-US" sz="18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/>
                      <a:r>
                        <a:rPr lang="en-US" sz="1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study categorized patient outcomes into four groups: Cure (greater than 75% improvement), Improvement (50-75%), Moderate Improvement (25-50%), and Unchanged (less than 25%).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03 </a:t>
                      </a:r>
                      <a:r>
                        <a:rPr lang="en-US" sz="2400" u="sng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Patient Distribution and Symptoms</a:t>
                      </a:r>
                    </a:p>
                    <a:p>
                      <a:endParaRPr lang="en-US" sz="2400" u="sng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/>
                      <a:r>
                        <a:rPr lang="en-US" sz="1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Among the patients, symptoms such as </a:t>
                      </a:r>
                      <a:r>
                        <a:rPr lang="en-US" sz="18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Ruka</a:t>
                      </a:r>
                      <a:r>
                        <a:rPr lang="en-US" sz="1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(pain), Toda (tingling), and </a:t>
                      </a:r>
                      <a:r>
                        <a:rPr lang="en-US" sz="18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Stambha</a:t>
                      </a:r>
                      <a:r>
                        <a:rPr lang="en-US" sz="1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(stiffness) were prevalent, with 100% experiencing </a:t>
                      </a:r>
                      <a:r>
                        <a:rPr lang="en-US" sz="18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Ruka</a:t>
                      </a:r>
                      <a:r>
                        <a:rPr lang="en-US" sz="1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pPr algn="l"/>
                      <a:endParaRPr lang="en-US" sz="18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/>
                      <a:r>
                        <a:rPr lang="en-US" sz="1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study highlights the importance of symptom analysis in assessing the effectiveness of </a:t>
                      </a:r>
                      <a:r>
                        <a:rPr lang="en-US" sz="18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Katibasti</a:t>
                      </a:r>
                      <a:r>
                        <a:rPr lang="en-US" sz="1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in treating </a:t>
                      </a:r>
                      <a:r>
                        <a:rPr lang="en-US" sz="18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Katishoola</a:t>
                      </a:r>
                      <a:r>
                        <a:rPr lang="en-US" sz="1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18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76020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4312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26527" y="0"/>
            <a:ext cx="577378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Exploring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Patrapind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Sweda</a:t>
            </a:r>
            <a:endParaRPr lang="en-US" sz="3600" dirty="0"/>
          </a:p>
        </p:txBody>
      </p:sp>
      <p:sp>
        <p:nvSpPr>
          <p:cNvPr id="10" name="Rounded Rectangle 9"/>
          <p:cNvSpPr/>
          <p:nvPr/>
        </p:nvSpPr>
        <p:spPr>
          <a:xfrm>
            <a:off x="901336" y="849086"/>
            <a:ext cx="4767944" cy="198555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 </a:t>
            </a:r>
            <a:r>
              <a:rPr lang="en-US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Overview of </a:t>
            </a:r>
            <a:r>
              <a:rPr lang="en-US" u="sng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Patrapind</a:t>
            </a:r>
            <a:r>
              <a:rPr lang="en-US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u="sng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Sweda</a:t>
            </a:r>
            <a:r>
              <a:rPr lang="en-US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u="sng" dirty="0" smtClean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u="sng" dirty="0" smtClean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therapeutic approach used in managing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Katishoola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particularly effective for low back pain.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1977" y="828882"/>
            <a:ext cx="4682345" cy="2005758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336" y="2961698"/>
            <a:ext cx="4741819" cy="2005758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1977" y="2961698"/>
            <a:ext cx="4682345" cy="2005758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6811" y="5094513"/>
            <a:ext cx="7735142" cy="1281389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6392092" y="1024630"/>
            <a:ext cx="3809999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02 </a:t>
            </a:r>
            <a:r>
              <a:rPr lang="en-US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Patient Distribution in Clinical Study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a study involving 300 patients, symptoms were categorized to assess treatment efficacy</a:t>
            </a:r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1219200" y="3035774"/>
            <a:ext cx="4201886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03 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Symptom </a:t>
            </a:r>
            <a:r>
              <a:rPr lang="en-US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</a:p>
          <a:p>
            <a:endParaRPr lang="en-US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symptoms evaluated included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Ruka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(pain). Toda (tingling), and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Stambha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(stiffness), with significant patient reports across these categories.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392092" y="3017191"/>
            <a:ext cx="431223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04 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Efficacy </a:t>
            </a:r>
            <a:r>
              <a:rPr lang="en-US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Assessment</a:t>
            </a:r>
          </a:p>
          <a:p>
            <a:endParaRPr lang="en-US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Treatment outcomes were classified into four categories: Cure (over 75% improvement), Marked Improvement (50-75%), Moderate Improvement (25-50%), and Unchanged (up to 25%).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2521131" y="5175574"/>
            <a:ext cx="704088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05 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 </a:t>
            </a:r>
            <a:r>
              <a:rPr lang="en-US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Representation</a:t>
            </a:r>
          </a:p>
          <a:p>
            <a:endParaRPr lang="en-US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was analyzed using statistical methods, including mean, percentage, and t-tests, to determine the significance of treatment effects.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7899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64255" y="391886"/>
            <a:ext cx="7328385" cy="966652"/>
          </a:xfrm>
        </p:spPr>
        <p:txBody>
          <a:bodyPr>
            <a:normAutofit fontScale="90000"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Comparative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of Treatments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64255" y="1476102"/>
            <a:ext cx="7471954" cy="3500846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3163197"/>
              </p:ext>
            </p:extLst>
          </p:nvPr>
        </p:nvGraphicFramePr>
        <p:xfrm>
          <a:off x="2547256" y="1632857"/>
          <a:ext cx="7145384" cy="33832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572692">
                  <a:extLst>
                    <a:ext uri="{9D8B030D-6E8A-4147-A177-3AD203B41FA5}">
                      <a16:colId xmlns:a16="http://schemas.microsoft.com/office/drawing/2014/main" val="3962213564"/>
                    </a:ext>
                  </a:extLst>
                </a:gridCol>
                <a:gridCol w="3572692">
                  <a:extLst>
                    <a:ext uri="{9D8B030D-6E8A-4147-A177-3AD203B41FA5}">
                      <a16:colId xmlns:a16="http://schemas.microsoft.com/office/drawing/2014/main" val="27139934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u="sng" dirty="0" err="1" smtClean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Katibasti</a:t>
                      </a:r>
                      <a:endParaRPr lang="en-US" sz="1800" u="sng" dirty="0" smtClean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800" dirty="0" smtClean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/>
                      </a:r>
                      <a:br>
                        <a:rPr lang="en-US" sz="1800" dirty="0" smtClean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800" dirty="0" smtClean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Efficacy: Demonstrated varying levels of effectiveness in managing </a:t>
                      </a:r>
                      <a:r>
                        <a:rPr lang="en-US" sz="1800" dirty="0" err="1" smtClean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Katishoola</a:t>
                      </a:r>
                      <a:r>
                        <a:rPr lang="en-US" sz="1800" dirty="0" smtClean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with a significant percentage of patients reporting improvement.</a:t>
                      </a:r>
                      <a:br>
                        <a:rPr lang="en-US" sz="1800" dirty="0" smtClean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800" dirty="0" smtClean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Patient Group: Involved in the clinical study, contributing to the overall assessment of treatment outcomes.</a:t>
                      </a:r>
                      <a:br>
                        <a:rPr lang="en-US" sz="1800" dirty="0" smtClean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u="sng" dirty="0" err="1" smtClean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Patrapind</a:t>
                      </a:r>
                      <a:r>
                        <a:rPr lang="en-US" sz="1800" u="sng" dirty="0" smtClean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u="sng" dirty="0" err="1" smtClean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Sweda</a:t>
                      </a:r>
                      <a:endParaRPr lang="en-US" sz="1800" u="sng" dirty="0" smtClean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1800" u="sng" dirty="0" smtClean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/>
                      </a:r>
                      <a:br>
                        <a:rPr lang="en-US" sz="1800" u="sng" dirty="0" smtClean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800" dirty="0" smtClean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Efficacy: Also showed effectiveness in treating </a:t>
                      </a:r>
                      <a:r>
                        <a:rPr lang="en-US" sz="1800" dirty="0" err="1" smtClean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Katishoola</a:t>
                      </a:r>
                      <a:r>
                        <a:rPr lang="en-US" sz="1800" dirty="0" smtClean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with results indicating a comparable impact on patient symptoms.</a:t>
                      </a:r>
                    </a:p>
                    <a:p>
                      <a:r>
                        <a:rPr lang="en-US" sz="1800" dirty="0" smtClean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Patient Group: Participated alongside </a:t>
                      </a:r>
                      <a:r>
                        <a:rPr lang="en-US" sz="1800" dirty="0" err="1" smtClean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Katibasti</a:t>
                      </a:r>
                      <a:r>
                        <a:rPr lang="en-US" sz="1800" dirty="0" smtClean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patients, allowing for a direct comparison of therapeutic results.</a:t>
                      </a:r>
                      <a:br>
                        <a:rPr lang="en-US" sz="1800" dirty="0" smtClean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66364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3075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25190" y="117567"/>
            <a:ext cx="7182878" cy="1136468"/>
          </a:xfrm>
        </p:spPr>
        <p:txBody>
          <a:bodyPr>
            <a:normAutofit fontScale="90000"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 Demographics and Distribution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692398" y="1632857"/>
            <a:ext cx="2963819" cy="180267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300</a:t>
            </a:r>
            <a:br>
              <a:rPr lang="en-US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Patients</a:t>
            </a:r>
            <a:br>
              <a:rPr lang="en-US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total of 300 patients diagnosed with </a:t>
            </a:r>
            <a:r>
              <a:rPr lang="en-US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Katishoola</a:t>
            </a: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were included in the study, providing a comprehensive overview of the condition.</a:t>
            </a:r>
            <a:b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400" dirty="0">
              <a:solidFill>
                <a:schemeClr val="tx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1652" y="1632857"/>
            <a:ext cx="3127479" cy="180267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2399" y="3648443"/>
            <a:ext cx="2973078" cy="168120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9881" y="3697684"/>
            <a:ext cx="3149250" cy="163073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365966" y="1696387"/>
            <a:ext cx="3013165" cy="17235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55.6%</a:t>
            </a:r>
            <a:b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Female</a:t>
            </a:r>
            <a:b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majority of the patient population was female, accounting for 167 out of 300 patients.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400" dirty="0"/>
          </a:p>
        </p:txBody>
      </p:sp>
      <p:sp>
        <p:nvSpPr>
          <p:cNvPr id="9" name="Rectangle 8"/>
          <p:cNvSpPr/>
          <p:nvPr/>
        </p:nvSpPr>
        <p:spPr>
          <a:xfrm>
            <a:off x="3726107" y="3697684"/>
            <a:ext cx="8963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32.33%</a:t>
            </a:r>
            <a:endParaRPr lang="en-US" u="sng" dirty="0"/>
          </a:p>
        </p:txBody>
      </p:sp>
      <p:sp>
        <p:nvSpPr>
          <p:cNvPr id="10" name="Rectangle 9"/>
          <p:cNvSpPr/>
          <p:nvPr/>
        </p:nvSpPr>
        <p:spPr>
          <a:xfrm>
            <a:off x="2692398" y="3929636"/>
            <a:ext cx="2963819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Aged 41-50</a:t>
            </a:r>
            <a:b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largest age group represented in the study was patients aged 41-50 years, comprising 97 individuals.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400" dirty="0"/>
          </a:p>
        </p:txBody>
      </p:sp>
      <p:sp>
        <p:nvSpPr>
          <p:cNvPr id="11" name="Rectangle 10"/>
          <p:cNvSpPr/>
          <p:nvPr/>
        </p:nvSpPr>
        <p:spPr>
          <a:xfrm>
            <a:off x="6251652" y="3697684"/>
            <a:ext cx="3127479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64.66%</a:t>
            </a:r>
            <a:b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Middle Class</a:t>
            </a:r>
            <a:b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significant portion of the patients. 194 out of 300, belonged to the middle socioeconomic class, highlighting the demographic profile of those affected by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Katishoola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940404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840692" y="0"/>
            <a:ext cx="564770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Clinical Examination Process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13954" y="1254035"/>
            <a:ext cx="3174275" cy="450668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</a:p>
          <a:p>
            <a:pPr algn="ctr"/>
            <a:r>
              <a:rPr lang="en-US" u="sng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Initial Patient Assessment</a:t>
            </a:r>
          </a:p>
          <a:p>
            <a:pPr algn="ctr"/>
            <a:endParaRPr lang="en-US" u="sng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Gather comprehensive health information through a medical history form.</a:t>
            </a:r>
          </a:p>
          <a:p>
            <a:pPr algn="ctr"/>
            <a:endParaRPr lang="en-US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Note chief complaints.</a:t>
            </a:r>
          </a:p>
          <a:p>
            <a:pPr algn="ctr"/>
            <a:endParaRPr lang="en-US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Document history of present illness and past medical conditions.</a:t>
            </a:r>
            <a:endParaRPr lang="en-US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378234" y="1214847"/>
            <a:ext cx="3270069" cy="450668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u="sng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u="sng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</a:p>
          <a:p>
            <a:pPr algn="ctr"/>
            <a:r>
              <a:rPr lang="en-US" u="sng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Symptom Evaluation</a:t>
            </a:r>
          </a:p>
          <a:p>
            <a:pPr algn="ctr"/>
            <a:endParaRPr lang="en-US" u="sng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Assess specific symptoms related to </a:t>
            </a:r>
            <a:r>
              <a:rPr lang="en-US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Katishoola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ctr"/>
            <a:endParaRPr lang="en-US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Evaluate </a:t>
            </a:r>
            <a:r>
              <a:rPr lang="en-US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Ruka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Toda, </a:t>
            </a:r>
            <a:r>
              <a:rPr lang="en-US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Stambha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Spandananubhuti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ctr"/>
            <a:endParaRPr lang="en-US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a scoring system to quantify severity.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238308" y="1293223"/>
            <a:ext cx="3182983" cy="441524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u="sng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u="sng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03</a:t>
            </a:r>
          </a:p>
          <a:p>
            <a:pPr algn="ctr"/>
            <a:r>
              <a:rPr lang="en-US" u="sng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Statistical Analysis of Findings</a:t>
            </a:r>
          </a:p>
          <a:p>
            <a:pPr algn="ctr"/>
            <a:endParaRPr lang="en-US" u="sng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Analyze the collected data using statistical methods.</a:t>
            </a:r>
          </a:p>
          <a:p>
            <a:pPr algn="ctr"/>
            <a:endParaRPr lang="en-US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Apply mean, standard deviation, and paired t- tests.</a:t>
            </a:r>
          </a:p>
          <a:p>
            <a:pPr algn="ctr"/>
            <a:endParaRPr lang="en-US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Evaluate treatment effectiveness and patient improvement.</a:t>
            </a:r>
          </a:p>
        </p:txBody>
      </p:sp>
    </p:spTree>
    <p:extLst>
      <p:ext uri="{BB962C8B-B14F-4D97-AF65-F5344CB8AC3E}">
        <p14:creationId xmlns:p14="http://schemas.microsoft.com/office/powerpoint/2010/main" val="3803694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378" y="603080"/>
            <a:ext cx="3309049" cy="565402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4" name="Rectangle 3"/>
          <p:cNvSpPr/>
          <p:nvPr/>
        </p:nvSpPr>
        <p:spPr>
          <a:xfrm>
            <a:off x="3058145" y="0"/>
            <a:ext cx="654538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Mechanisms of Pain in </a:t>
            </a:r>
            <a:r>
              <a:rPr lang="en-US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Katishoola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537322" y="699839"/>
            <a:ext cx="6771654" cy="143691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u="sng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 Symptomatology of </a:t>
            </a:r>
            <a:r>
              <a:rPr lang="en-US" u="sng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Katishoola</a:t>
            </a:r>
            <a:endParaRPr lang="en-US" u="sng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Ruka</a:t>
            </a:r>
            <a:r>
              <a:rPr lang="en-US" sz="1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(Pain): Affects 150 out of 300 patients, indicating a prevalent symptom associated with the condition.</a:t>
            </a:r>
          </a:p>
          <a:p>
            <a:r>
              <a:rPr lang="en-US" sz="14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Stambha</a:t>
            </a:r>
            <a:r>
              <a:rPr lang="en-US" sz="1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(Stiffness): Reported by 220 patients, contributing to the overall discomfort and pain experience.</a:t>
            </a:r>
            <a:endParaRPr lang="en-US" sz="1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537322" y="2286090"/>
            <a:ext cx="6771654" cy="130366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u="sng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02 Physiological Factors</a:t>
            </a:r>
          </a:p>
          <a:p>
            <a:r>
              <a:rPr lang="en-US" sz="14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Kshudha</a:t>
            </a:r>
            <a:r>
              <a:rPr lang="en-US" sz="1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(Hunger): Analyzed in relation to pain perception, with implications for digestive health affecting symptom severity.</a:t>
            </a:r>
          </a:p>
          <a:p>
            <a:r>
              <a:rPr lang="en-US" sz="1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Agni (Digestive Fire): Plays a crucial role in the body's ability to manage pain and inflammation.</a:t>
            </a:r>
            <a:endParaRPr lang="en-US" sz="1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7322" y="3678492"/>
            <a:ext cx="6771654" cy="127374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7322" y="5040974"/>
            <a:ext cx="6771654" cy="1216135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637770" y="3655438"/>
            <a:ext cx="6570757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03 Impact of Lifestyle Factors</a:t>
            </a:r>
          </a:p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Bowel Habits: Correlation observed between bowel regularity and pain levels, suggesting gastrointestinal health influences symptomatology.</a:t>
            </a:r>
          </a:p>
          <a:p>
            <a:r>
              <a:rPr lang="en-US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Vyayama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Shakti (Physical Strength): Physical activity levels may affect pain management and overall patient outcomes.</a:t>
            </a:r>
            <a:endParaRPr lang="en-US" sz="1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637769" y="5026003"/>
            <a:ext cx="6570757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04 Geographical and Physical Attributes</a:t>
            </a:r>
          </a:p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Desha (Region): Distribution of patients indicates potential environmental factors influencing pain mechanisms.</a:t>
            </a:r>
          </a:p>
          <a:p>
            <a:r>
              <a:rPr lang="en-US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Kostha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(Body Type): Variations in body constitution may affect individual pain experiences and treatment responses.</a:t>
            </a:r>
            <a:endParaRPr lang="en-US" sz="1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5056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804263" y="-142454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</p:txBody>
      </p:sp>
      <p:sp>
        <p:nvSpPr>
          <p:cNvPr id="3" name="Rectangle 2"/>
          <p:cNvSpPr/>
          <p:nvPr/>
        </p:nvSpPr>
        <p:spPr>
          <a:xfrm>
            <a:off x="524435" y="0"/>
            <a:ext cx="1108037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Therapeutic Mechanisms of </a:t>
            </a:r>
            <a:r>
              <a:rPr lang="en-US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Katibasti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Patrapind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Sweda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57645" y="780877"/>
            <a:ext cx="3078746" cy="497446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u="sng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 Mechanism of Action</a:t>
            </a:r>
          </a:p>
          <a:p>
            <a:endParaRPr lang="en-US" u="sng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u="sng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Katibasti</a:t>
            </a:r>
            <a:r>
              <a:rPr lang="en-US" u="sng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Utilizes localized heat application to alleviate pain and stiffness in the lower back, promoting blood circulation and muscle relaxation.</a:t>
            </a:r>
          </a:p>
          <a:p>
            <a:r>
              <a:rPr lang="en-US" u="sng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Patrapind</a:t>
            </a:r>
            <a:r>
              <a:rPr lang="en-US" u="sng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u="sng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Sweda</a:t>
            </a:r>
            <a:r>
              <a:rPr lang="en-US" u="sng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Involves the use of herbal poultices that provide warmth and medicinal properties, enhancing tissue healing and reducing </a:t>
            </a:r>
            <a:r>
              <a:rPr lang="en-US" dirty="0" smtClean="0"/>
              <a:t>inflammation.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9835" y="795270"/>
            <a:ext cx="3259494" cy="497446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795269"/>
            <a:ext cx="3415553" cy="496007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349871" y="961588"/>
            <a:ext cx="2924988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u="sng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02 Symptom Relief</a:t>
            </a:r>
          </a:p>
          <a:p>
            <a:endParaRPr lang="en-US" u="sng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Targeted Symptoms: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Both treatments aim to address key symptoms of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Katishoola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including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Ruka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(pain), Toda (tingling), and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Stambha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(stiffness).</a:t>
            </a:r>
          </a:p>
          <a:p>
            <a:r>
              <a:rPr lang="en-US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Patient Distribution: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a study of 300 patients, 150 experienced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Ruka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248 had Toda, and 220 reported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Stambha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highlighting the prevalence of these symptoms.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974106" y="961588"/>
            <a:ext cx="3213847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03 Efficacy Assessment</a:t>
            </a:r>
          </a:p>
          <a:p>
            <a:endParaRPr lang="en-US" u="sng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Clinical Study Findings: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comparative study evaluated the effectiveness of both treatments, categorizing outcomes into Cure (&gt;75% relief). Improvement (50-75%), Moderate Improvement (25-50%), and Unchanged (&lt;25%).</a:t>
            </a:r>
          </a:p>
          <a:p>
            <a:r>
              <a:rPr lang="en-US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 Analysis: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Results were analyzed using methods such as mean, percentage, and t-tests to determine the significance of treatment effects.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1949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571667" y="0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806516" y="-114563"/>
            <a:ext cx="831529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Assessment Criteria and Statistical Analysis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00892" y="646331"/>
            <a:ext cx="2411249" cy="553931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 </a:t>
            </a:r>
            <a:r>
              <a:rPr lang="en-US" u="sng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Assessment Criteria for Treatment Effectiveness</a:t>
            </a:r>
          </a:p>
          <a:p>
            <a:pPr algn="ctr"/>
            <a:endParaRPr lang="en-US" u="sng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600" u="sng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Cured: </a:t>
            </a:r>
            <a:r>
              <a:rPr lang="en-US" sz="1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More than 75% relief in patient complaints.</a:t>
            </a:r>
          </a:p>
          <a:p>
            <a:pPr algn="ctr"/>
            <a:r>
              <a:rPr lang="en-US" sz="1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Marked Improvement: 50-75% relief in patient complaints.</a:t>
            </a:r>
          </a:p>
          <a:p>
            <a:pPr algn="ctr"/>
            <a:endParaRPr lang="en-US" sz="16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600" u="sng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Moderate Improvement:</a:t>
            </a:r>
            <a:r>
              <a:rPr lang="en-US" sz="1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25-50% relief in patient complaints.</a:t>
            </a:r>
          </a:p>
          <a:p>
            <a:pPr algn="ctr"/>
            <a:endParaRPr lang="en-US" sz="16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600" u="sng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Unchanged:</a:t>
            </a:r>
            <a:r>
              <a:rPr lang="en-US" sz="1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Up to 25% relief in patient complaints.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3160059" y="646331"/>
            <a:ext cx="2178423" cy="553931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02 Symptom Scoring System</a:t>
            </a:r>
          </a:p>
          <a:p>
            <a:pPr algn="ctr"/>
            <a:endParaRPr lang="en-US" u="sng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600" u="sng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Pain (</a:t>
            </a:r>
            <a:r>
              <a:rPr lang="en-US" sz="1600" u="sng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Katishoola</a:t>
            </a:r>
            <a:r>
              <a:rPr lang="en-US" sz="1600" u="sng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 </a:t>
            </a:r>
            <a:r>
              <a:rPr lang="en-US" sz="1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Scored from 0 (no pain) to 4 (severe pain).</a:t>
            </a:r>
          </a:p>
          <a:p>
            <a:pPr algn="ctr"/>
            <a:endParaRPr lang="en-US" sz="16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600" u="sng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Tandra</a:t>
            </a:r>
            <a:r>
              <a:rPr lang="en-US" sz="1600" u="sng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(drowsiness): </a:t>
            </a:r>
            <a:r>
              <a:rPr lang="en-US" sz="1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Scored from 0 (no drowsiness) to 3 (severe drowsiness).</a:t>
            </a:r>
          </a:p>
          <a:p>
            <a:pPr algn="ctr"/>
            <a:endParaRPr lang="en-US" sz="16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600" u="sng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Gaurava</a:t>
            </a:r>
            <a:r>
              <a:rPr lang="en-US" sz="1600" u="sng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(heaviness): </a:t>
            </a:r>
            <a:r>
              <a:rPr lang="en-US" sz="1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Scored from 0 (no heaviness) to 3 (severe heaviness).</a:t>
            </a:r>
          </a:p>
          <a:p>
            <a:pPr algn="ctr"/>
            <a:endParaRPr lang="en-US" sz="16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600" u="sng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Shotha</a:t>
            </a:r>
            <a:r>
              <a:rPr lang="en-US" sz="1600" u="sng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(swelling): </a:t>
            </a:r>
            <a:r>
              <a:rPr lang="en-US" sz="1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Scored from 0 (no swelling) to 3 (severe swelling).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558282" y="646331"/>
            <a:ext cx="1949823" cy="553931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03 Statistical Methods </a:t>
            </a:r>
          </a:p>
          <a:p>
            <a:pPr algn="ctr"/>
            <a:endParaRPr lang="en-US" u="sng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Employed</a:t>
            </a:r>
          </a:p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Mean, Percentage, Standard Deviation (S.D.), Standard Error (S.E.), t-values, and p-values calculated.</a:t>
            </a:r>
          </a:p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Paired t-test used for calculating t-values.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727905" y="646331"/>
            <a:ext cx="3406260" cy="121023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04 Significance Levels</a:t>
            </a:r>
          </a:p>
          <a:p>
            <a:pPr algn="ctr"/>
            <a:endParaRPr lang="en-US" u="sng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Insignificant: p&lt;0.05.</a:t>
            </a:r>
          </a:p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Significant: p&lt;0.01</a:t>
            </a:r>
            <a:r>
              <a:rPr lang="en-US" dirty="0" smtClean="0">
                <a:solidFill>
                  <a:schemeClr val="tx1"/>
                </a:solidFill>
              </a:rPr>
              <a:t>.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27905" y="2085690"/>
            <a:ext cx="3406260" cy="15181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05 Data Presentation</a:t>
            </a:r>
          </a:p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presented in tabular form, including general observations and therapy results based on symptom improvement.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7905" y="3945787"/>
            <a:ext cx="3406260" cy="2038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74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941358" y="-94336"/>
            <a:ext cx="525015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Study Results and Findings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554480" y="958055"/>
            <a:ext cx="2481943" cy="467650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Efficacy of Treatments</a:t>
            </a:r>
          </a:p>
          <a:p>
            <a:pPr algn="ctr"/>
            <a:endParaRPr lang="en-US" u="sng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comparative clinical study evaluated the effectiveness of </a:t>
            </a:r>
            <a:r>
              <a:rPr lang="en-US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Katibasti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Patrapind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Sweda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managing </a:t>
            </a:r>
            <a:r>
              <a:rPr lang="en-US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Katishoola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with varying levels of</a:t>
            </a:r>
          </a:p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improvement observed among the 300</a:t>
            </a:r>
          </a:p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patients.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6686" y="919341"/>
            <a:ext cx="2584823" cy="469768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4941" y="919341"/>
            <a:ext cx="2533151" cy="465610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825532" y="1220173"/>
            <a:ext cx="210713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Patient Demographics</a:t>
            </a:r>
          </a:p>
          <a:p>
            <a:pPr algn="ctr"/>
            <a:endParaRPr lang="en-US" u="sng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study included a diverse patient population, with 45% identifying as Hindu, 29.33% as Muslim, and 25% as Sikh, highlighting the cultural context of the findings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8064716" y="1160186"/>
            <a:ext cx="21336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Symptom Distribution</a:t>
            </a:r>
          </a:p>
          <a:p>
            <a:pPr algn="ctr"/>
            <a:endParaRPr lang="en-US" u="sng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Among the patients, 100% experienced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Ruka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(pain), while 82.6% reported Toda (tingling) and 73.33% experienced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Stambha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(stiffness), indicating the prevalence of these symptoms in the study group.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8203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354704" y="0"/>
            <a:ext cx="523733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Future Research Directions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2061043" y="1175658"/>
            <a:ext cx="7824652" cy="286076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 Long-term Efficacy Assessment</a:t>
            </a:r>
          </a:p>
          <a:p>
            <a:pPr algn="ctr"/>
            <a:endParaRPr lang="en-US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Evaluate the effectiveness of Kati </a:t>
            </a:r>
            <a:r>
              <a:rPr lang="en-US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Basti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Patra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Pinda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Sweda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therapies for managing Lumbar Spondylosis over an extended period.</a:t>
            </a:r>
          </a:p>
          <a:p>
            <a:pPr algn="ctr"/>
            <a:endParaRPr lang="en-US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02 Advanced Diagnostic Tools</a:t>
            </a:r>
          </a:p>
          <a:p>
            <a:pPr algn="ctr"/>
            <a:endParaRPr lang="en-US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Incorporate advanced imaging techniques such as MRI for tissue hydration assessment and digital X-rays of the lumbar spine in flexion to establish objective assessment criteria.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8909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36228" y="650924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</p:txBody>
      </p:sp>
      <p:sp>
        <p:nvSpPr>
          <p:cNvPr id="3" name="Rectangle 2"/>
          <p:cNvSpPr/>
          <p:nvPr/>
        </p:nvSpPr>
        <p:spPr>
          <a:xfrm>
            <a:off x="4349932" y="-33486"/>
            <a:ext cx="232518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254034" y="940525"/>
            <a:ext cx="2050869" cy="505532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Efficacy of Treatments</a:t>
            </a:r>
          </a:p>
          <a:p>
            <a:pPr algn="ctr"/>
            <a:endParaRPr lang="en-US" u="sng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comparative clinical study evaluated the effectiveness of </a:t>
            </a:r>
            <a:r>
              <a:rPr lang="en-US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Katibasti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Patrapind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Sweda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managing </a:t>
            </a:r>
            <a:r>
              <a:rPr lang="en-US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Katishoola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 condition associated with low back pain.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7204" y="940526"/>
            <a:ext cx="2066723" cy="505532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4144" y="940525"/>
            <a:ext cx="2066723" cy="505532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1085" y="940526"/>
            <a:ext cx="2066723" cy="505532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337370" y="1161235"/>
            <a:ext cx="1489166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en-US" u="sng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Patient Analysis</a:t>
            </a:r>
          </a:p>
          <a:p>
            <a:pPr algn="ctr"/>
            <a:endParaRPr lang="en-US" u="sng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total of 300 patients were involved in the study, providing a robust dataset for evaluating treatment outcomes.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675121" y="1125641"/>
            <a:ext cx="2025746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u="sng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Symptom Distribution</a:t>
            </a:r>
          </a:p>
          <a:p>
            <a:endParaRPr lang="en-US" u="sng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Key symptoms such as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Ruka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(pain). Toda (tingling), and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Stambha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(stiffness) were prevalent among the patient population, highlighting the condition's impact.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357861" y="1344104"/>
            <a:ext cx="1823945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 Significance</a:t>
            </a:r>
          </a:p>
          <a:p>
            <a:pPr algn="ctr"/>
            <a:endParaRPr lang="en-US" u="sng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study employed rigorous statistical methods to analyze treatment effects, ensuring reliable conclusions regarding the therapeutic approaches.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4441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730137" y="1541417"/>
            <a:ext cx="6152606" cy="273013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You..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4558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TM02900688[[fn=Facet]]</Template>
  <TotalTime>362</TotalTime>
  <Words>1345</Words>
  <Application>Microsoft Office PowerPoint</Application>
  <PresentationFormat>Widescreen</PresentationFormat>
  <Paragraphs>200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Times New Roman</vt:lpstr>
      <vt:lpstr>Trebuchet MS</vt:lpstr>
      <vt:lpstr>Wingdings 3</vt:lpstr>
      <vt:lpstr>Facet</vt:lpstr>
      <vt:lpstr> Comprehensive Insights into Katishoola and Its Therapeutic Approaches  An In-Depth Exploration of Katibasti, Patrapind Sweda, and Their Clinical Implications</vt:lpstr>
      <vt:lpstr>PowerPoint Presentation</vt:lpstr>
      <vt:lpstr>Introduction to Katishoola </vt:lpstr>
      <vt:lpstr>PowerPoint Presentation</vt:lpstr>
      <vt:lpstr>PowerPoint Presentation</vt:lpstr>
      <vt:lpstr> Comparative Analysis of Treatments </vt:lpstr>
      <vt:lpstr>   Patient Demographics and Distribution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Comprehensive Insights into Katishoola and Its Therapeutic Approaches An In-Depth Exploration of Katibasti, Patrapind Sweda, and Their Clinical Implications</dc:title>
  <dc:creator>SK Kaushik</dc:creator>
  <cp:lastModifiedBy>SK Kaushik</cp:lastModifiedBy>
  <cp:revision>20</cp:revision>
  <dcterms:created xsi:type="dcterms:W3CDTF">2025-01-06T07:26:40Z</dcterms:created>
  <dcterms:modified xsi:type="dcterms:W3CDTF">2025-01-06T13:28:46Z</dcterms:modified>
</cp:coreProperties>
</file>